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24"/>
      <p:bold r:id="rId25"/>
    </p:embeddedFont>
    <p:embeddedFont>
      <p:font typeface="Blackadder ITC" panose="04020505051007020D02" pitchFamily="82" charset="0"/>
      <p:regular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dJyM9krflAHat/mNxsEATMCqf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everyone. This is a project on Smart Chat System. It uses both TCP and UDP socket protocols to build a real-time multi-client chat application.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chat system allows multiple users to communicate over a network in real time. Examples include WhatsApp and Telegram which are widely used today.</a:t>
            </a:r>
            <a:endParaRPr/>
          </a:p>
        </p:txBody>
      </p:sp>
      <p:sp>
        <p:nvSpPr>
          <p:cNvPr id="45" name="Google Shape;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Traditional chat systems use only TCP or only UDP, lack real-time typing indicators, and often support only one user at a time. Our project solves all these issues.</a:t>
            </a:r>
            <a:endParaRPr/>
          </a:p>
        </p:txBody>
      </p:sp>
      <p:sp>
        <p:nvSpPr>
          <p:cNvPr id="71" name="Google Shape;7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main objective is to build a hybrid TCP+UDP chat system in Python supporting multiple clients, real-time messaging, and typing indicators.</a:t>
            </a:r>
            <a:endParaRPr dirty="0"/>
          </a:p>
        </p:txBody>
      </p:sp>
      <p:sp>
        <p:nvSpPr>
          <p:cNvPr id="103" name="Google Shape;10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stands for Transmission Control Protocol. It is connection-oriented and guarantees reliable, ordered delivery. In our project, TCP runs on port 9000 for chat messages.</a:t>
            </a:r>
            <a:endParaRPr/>
          </a:p>
        </p:txBody>
      </p:sp>
      <p:sp>
        <p:nvSpPr>
          <p:cNvPr id="145" name="Google Shape;14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UDP stands for User Datagram Protocol. It is connectionless and fast. In our project, UDP runs on port 9001 and handles typing status messages where occasional packet loss is acceptable.</a:t>
            </a:r>
            <a:endParaRPr/>
          </a:p>
        </p:txBody>
      </p:sp>
      <p:sp>
        <p:nvSpPr>
          <p:cNvPr id="178" name="Google Shape;17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table summarises the key differences between TCP and UDP. TCP is reliable and ordered; UDP is fast and connectionless. Together they give the best of both worlds.</a:t>
            </a:r>
            <a:endParaRPr/>
          </a:p>
        </p:txBody>
      </p:sp>
      <p:sp>
        <p:nvSpPr>
          <p:cNvPr id="211" name="Google Shape;21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both protocols gives us the best of both worlds. TCP ensures chat messages are delivered correctly; UDP keeps typing indicators fast and responsive.</a:t>
            </a:r>
            <a:endParaRPr/>
          </a:p>
        </p:txBody>
      </p:sp>
      <p:sp>
        <p:nvSpPr>
          <p:cNvPr id="257" name="Google Shape;25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server is at the center. Client A and B connect via raw TCP and UDP sockets. A browser client connects through the WebSocket bridge. Multiple simultaneous clients supported.</a:t>
            </a:r>
            <a:endParaRPr/>
          </a:p>
        </p:txBody>
      </p:sp>
      <p:sp>
        <p:nvSpPr>
          <p:cNvPr id="284" name="Google Shape;28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handles all chat messages. Each client connects, registers a username, and messages are broadcast by the server to all connected peers using sendall().</a:t>
            </a:r>
            <a:endParaRPr/>
          </a:p>
        </p:txBody>
      </p:sp>
      <p:sp>
        <p:nvSpPr>
          <p:cNvPr id="324" name="Google Shape;32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UDP handles real-time typing indicators. The client sends a datagram when typing starts and another when the message is sent. Speed matters here, not guaranteed delivery.</a:t>
            </a:r>
            <a:endParaRPr/>
          </a:p>
        </p:txBody>
      </p:sp>
      <p:sp>
        <p:nvSpPr>
          <p:cNvPr id="365" name="Google Shape;36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Socket programming is the foundation of our project. AF_INET means IPv4 addressing. SOCK_STREAM creates a TCP socket; SOCK_DGRAM creates a UDP socket.</a:t>
            </a:r>
            <a:endParaRPr/>
          </a:p>
        </p:txBody>
      </p:sp>
      <p:sp>
        <p:nvSpPr>
          <p:cNvPr id="406" name="Google Shape;40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project has 6 core modules: config for shared settings, TCP and UDP servers, TCP and UDP clients, and a WebSocket bridge for the browser frontend.</a:t>
            </a:r>
            <a:endParaRPr/>
          </a:p>
        </p:txBody>
      </p:sp>
      <p:sp>
        <p:nvSpPr>
          <p:cNvPr id="448" name="Google Shape;44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project is organised into four packages: common (config), server (TCP/UDP/WS), client (TCP/UDP), and frontend (browser UI). run_servers.py starts everything.</a:t>
            </a:r>
            <a:endParaRPr/>
          </a:p>
        </p:txBody>
      </p:sp>
      <p:sp>
        <p:nvSpPr>
          <p:cNvPr id="490" name="Google Shape;49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are the six most important Python socket concepts used in the project. Understanding AF_INET, SOCK_STREAM, SOCK_DGRAM, and threading will cover 90% of the code.</a:t>
            </a:r>
            <a:endParaRPr/>
          </a:p>
        </p:txBody>
      </p:sp>
      <p:sp>
        <p:nvSpPr>
          <p:cNvPr id="540" name="Google Shape;54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5" name="Google Shape;57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system supports multiple clients simultaneously, real-time messaging, UDP-based typing indicators, a browser frontend, and uses only Python built-in libraries.</a:t>
            </a:r>
            <a:endParaRPr/>
          </a:p>
        </p:txBody>
      </p:sp>
      <p:sp>
        <p:nvSpPr>
          <p:cNvPr id="576" name="Google Shape;57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7" name="Google Shape;61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hybrid TCP+UDP design, pure Python implementation, multi-threaded architecture, and browser frontend are the key advantages of this system.</a:t>
            </a:r>
            <a:endParaRPr/>
          </a:p>
        </p:txBody>
      </p:sp>
      <p:sp>
        <p:nvSpPr>
          <p:cNvPr id="618" name="Google Shape;61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" name="Google Shape;66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Current limitations include lack of encryption, no message persistence, no authentication, and no support for multiple rooms. These are addressed in future enhancements.</a:t>
            </a:r>
            <a:endParaRPr/>
          </a:p>
        </p:txBody>
      </p:sp>
      <p:sp>
        <p:nvSpPr>
          <p:cNvPr id="666" name="Google Shape;66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2" name="Google Shape;70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work includes TLS encryption, database persistence, authentication, an AI chatbot, multiple chat rooms, and a mobile PWA. These extend the project beyond the classroom.</a:t>
            </a:r>
            <a:endParaRPr/>
          </a:p>
        </p:txBody>
      </p:sp>
      <p:sp>
        <p:nvSpPr>
          <p:cNvPr id="703" name="Google Shape;70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4" name="Google Shape;74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conclude: the Smart Chat System demonstrates real-world use of TCP for reliable messaging, UDP for fast status updates, threading for concurrency, and WebSockets for browser integration. Thank you!</a:t>
            </a:r>
            <a:endParaRPr/>
          </a:p>
        </p:txBody>
      </p:sp>
      <p:sp>
        <p:nvSpPr>
          <p:cNvPr id="745" name="Google Shape;745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>
          <a:extLst>
            <a:ext uri="{FF2B5EF4-FFF2-40B4-BE49-F238E27FC236}">
              <a16:creationId xmlns:a16="http://schemas.microsoft.com/office/drawing/2014/main" id="{EBAA503F-D033-3D28-0175-56E1D3373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0:notes">
            <a:extLst>
              <a:ext uri="{FF2B5EF4-FFF2-40B4-BE49-F238E27FC236}">
                <a16:creationId xmlns:a16="http://schemas.microsoft.com/office/drawing/2014/main" id="{2FA43997-CF9A-7879-4286-5AA5B7903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4" name="Google Shape;744;p20:notes">
            <a:extLst>
              <a:ext uri="{FF2B5EF4-FFF2-40B4-BE49-F238E27FC236}">
                <a16:creationId xmlns:a16="http://schemas.microsoft.com/office/drawing/2014/main" id="{77302E12-6922-9B09-4FF6-EFCF3E4D6F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conclude: the Smart Chat System demonstrates real-world use of TCP for reliable messaging, UDP for fast status updates, threading for concurrency, and WebSockets for browser integration. Thank you!</a:t>
            </a:r>
            <a:endParaRPr/>
          </a:p>
        </p:txBody>
      </p:sp>
      <p:sp>
        <p:nvSpPr>
          <p:cNvPr id="745" name="Google Shape;745;p20:notes">
            <a:extLst>
              <a:ext uri="{FF2B5EF4-FFF2-40B4-BE49-F238E27FC236}">
                <a16:creationId xmlns:a16="http://schemas.microsoft.com/office/drawing/2014/main" id="{F0FE0324-C107-2595-DA41-BB623FFE76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9930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14.png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029"/>
          </a:solidFill>
          <a:ln w="12700" cap="flat" cmpd="sng">
            <a:solidFill>
              <a:srgbClr val="061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0" y="274320"/>
            <a:ext cx="2560320" cy="2560320"/>
          </a:xfrm>
          <a:prstGeom prst="ellipse">
            <a:avLst/>
          </a:prstGeom>
          <a:solidFill>
            <a:srgbClr val="1E5FA8">
              <a:alpha val="14901"/>
            </a:srgbClr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949440" y="731520"/>
            <a:ext cx="1828800" cy="1828800"/>
          </a:xfrm>
          <a:prstGeom prst="ellipse">
            <a:avLst/>
          </a:prstGeom>
          <a:solidFill>
            <a:srgbClr val="00B4D8">
              <a:alpha val="10196"/>
            </a:srgbClr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79792" y="10972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6B"/>
          </a:solidFill>
          <a:ln w="1270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0" y="4846320"/>
            <a:ext cx="3200400" cy="29718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65760" y="640080"/>
            <a:ext cx="6858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lang="en-US" sz="4000" b="1" i="0" u="none" strike="noStrike" cap="none" dirty="0" err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SMARTxULTRA</a:t>
            </a:r>
            <a:endParaRPr lang="en-US" sz="4000" b="1" i="0" u="none" strike="noStrike" cap="none" dirty="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65760" y="1691640"/>
            <a:ext cx="502920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65760" y="178308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using TCP and UDP Protocols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65760" y="2423160"/>
            <a:ext cx="1097280" cy="34747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365760" y="242316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600200" y="2423160"/>
            <a:ext cx="1097280" cy="347472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1600200" y="242316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2834640" y="2423160"/>
            <a:ext cx="1828800" cy="347472"/>
          </a:xfrm>
          <a:prstGeom prst="rect">
            <a:avLst/>
          </a:prstGeom>
          <a:solidFill>
            <a:srgbClr val="1A3A6B"/>
          </a:solidFill>
          <a:ln w="12700" cap="flat" cmpd="sng">
            <a:solidFill>
              <a:srgbClr val="8FA8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2834640" y="24231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Socket Programming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365760" y="3017520"/>
            <a:ext cx="5120640" cy="420624"/>
          </a:xfrm>
          <a:prstGeom prst="rect">
            <a:avLst/>
          </a:prstGeom>
          <a:solidFill>
            <a:srgbClr val="112252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502920" y="30175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👤  Presented By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2926080" y="3017520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Alok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kumar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sahu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, 2402041118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365760" y="3547872"/>
            <a:ext cx="5120640" cy="420624"/>
          </a:xfrm>
          <a:prstGeom prst="rect">
            <a:avLst/>
          </a:prstGeom>
          <a:solidFill>
            <a:srgbClr val="112252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502920" y="354787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🎓  Course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2926080" y="3547872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B.Tech CSE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365760" y="4078224"/>
            <a:ext cx="5120640" cy="420624"/>
          </a:xfrm>
          <a:prstGeom prst="rect">
            <a:avLst/>
          </a:prstGeom>
          <a:solidFill>
            <a:srgbClr val="112252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502920" y="407822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📚  Subject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2926080" y="4078224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Computer Networks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Introduction to Chat Systems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74320" y="914400"/>
            <a:ext cx="5303520" cy="3657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57200" y="1005840"/>
            <a:ext cx="502920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Arial"/>
              <a:buChar char="•"/>
            </a:pPr>
            <a:r>
              <a:rPr lang="en-US" sz="150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 chat system enables real-time text communication between two or more users over a network.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Messages are sent and received instantly using network protocols.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Examples: WhatsApp, Telegram, Slack, Discord, MS Teams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All rely on client-server architecture and socket connections.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852160" y="1143000"/>
            <a:ext cx="1005840" cy="1005840"/>
          </a:xfrm>
          <a:prstGeom prst="ellipse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08192" y="139903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5760720" y="22219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WhatsApp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406640" y="1143000"/>
            <a:ext cx="1005840" cy="100584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2672" y="139903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7315200" y="22219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Telegram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852160" y="2743200"/>
            <a:ext cx="1005840" cy="100584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8192" y="299923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5760720" y="38221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406640" y="2743200"/>
            <a:ext cx="1005840" cy="1005840"/>
          </a:xfrm>
          <a:prstGeom prst="ellipse">
            <a:avLst/>
          </a:prstGeom>
          <a:solidFill>
            <a:srgbClr val="1A3A6B"/>
          </a:solidFill>
          <a:ln w="1270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62672" y="299923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7315200" y="38221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Discord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Problem Statement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74320" y="960120"/>
            <a:ext cx="4206240" cy="1691640"/>
          </a:xfrm>
          <a:prstGeom prst="rect">
            <a:avLst/>
          </a:prstGeom>
          <a:solidFill>
            <a:srgbClr val="0D1B3E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38912" y="1463040"/>
            <a:ext cx="640080" cy="64008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352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1234440" y="11430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Real-Time Status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234440" y="155448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Traditional systems don't show when someone is typing.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754880" y="960120"/>
            <a:ext cx="4206240" cy="1691640"/>
          </a:xfrm>
          <a:prstGeom prst="rect">
            <a:avLst/>
          </a:prstGeom>
          <a:solidFill>
            <a:srgbClr val="0D1B3E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919472" y="1463040"/>
            <a:ext cx="640080" cy="64008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10912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5715000" y="11430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Only One Protocol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715000" y="155448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Using only TCP wastes bandwidth for small status updates.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74320" y="2880360"/>
            <a:ext cx="4206240" cy="1691640"/>
          </a:xfrm>
          <a:prstGeom prst="rect">
            <a:avLst/>
          </a:prstGeom>
          <a:solidFill>
            <a:srgbClr val="0D1B3E"/>
          </a:solidFill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38912" y="3383280"/>
            <a:ext cx="640080" cy="640080"/>
          </a:xfrm>
          <a:prstGeom prst="ellipse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92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0352" y="3474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1234440" y="306324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Client Only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234440" y="347472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Basic socket programs support only one user at a time.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754880" y="2880360"/>
            <a:ext cx="4206240" cy="1691640"/>
          </a:xfrm>
          <a:prstGeom prst="rect">
            <a:avLst/>
          </a:prstGeom>
          <a:solidFill>
            <a:srgbClr val="0D1B3E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919472" y="3383280"/>
            <a:ext cx="640080" cy="64008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10912" y="3474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5715000" y="306324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Hybrid Design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715000" y="347472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Systems rarely combine TCP reliability with UDP speed.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Project Objectives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82880" y="781812"/>
            <a:ext cx="8595360" cy="713232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82880" y="781812"/>
            <a:ext cx="594360" cy="71323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182880" y="781812"/>
            <a:ext cx="594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914400" y="836676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Build a Multi-Client Chat System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14400" y="114757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Support multiple users connected simultaneously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21040" y="9829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182880" y="1586484"/>
            <a:ext cx="8595360" cy="713232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82880" y="1586484"/>
            <a:ext cx="594360" cy="713232"/>
          </a:xfrm>
          <a:prstGeom prst="rect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82880" y="1586484"/>
            <a:ext cx="594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14400" y="164134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Use TCP for Message Delivery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14400" y="195224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Ensure reliable, ordered chat message transfer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21040" y="178765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182880" y="2391156"/>
            <a:ext cx="8595360" cy="713232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82880" y="2391156"/>
            <a:ext cx="594360" cy="713232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182880" y="2391156"/>
            <a:ext cx="594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914400" y="244602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Use UDP for Typing Indicators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914400" y="2756916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Fast, lightweight status notifications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21040" y="259232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/>
          <p:nvPr/>
        </p:nvSpPr>
        <p:spPr>
          <a:xfrm>
            <a:off x="182880" y="3195828"/>
            <a:ext cx="8595360" cy="713232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182880" y="3195828"/>
            <a:ext cx="594360" cy="713232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182880" y="3195828"/>
            <a:ext cx="594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914400" y="3250692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Implement Socket Programming in Python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914400" y="356158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Use raw sockets — no third-party chat library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21040" y="33969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182880" y="4000500"/>
            <a:ext cx="8595360" cy="713232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182880" y="4000500"/>
            <a:ext cx="594360" cy="713232"/>
          </a:xfrm>
          <a:prstGeom prst="rect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182880" y="4000500"/>
            <a:ext cx="594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914400" y="405536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Add a Web-Based Frontend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914400" y="436626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Browser UI via WebSocket bridge (ws_bridge.py)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21040" y="4201668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is TCP?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217920" y="868680"/>
            <a:ext cx="2651760" cy="2651760"/>
          </a:xfrm>
          <a:prstGeom prst="ellipse">
            <a:avLst/>
          </a:prstGeom>
          <a:solidFill>
            <a:srgbClr val="0D1B3E"/>
          </a:solidFill>
          <a:ln w="381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6217920" y="141732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4200"/>
              <a:buFont typeface="Arial Black"/>
              <a:buNone/>
            </a:pPr>
            <a:r>
              <a:rPr lang="en-US" sz="4200" b="1" i="0" u="none" strike="noStrike" cap="non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TCP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217920" y="214884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Control Protocol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74320" y="91440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" name="Google Shape;158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11155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>
            <a:off x="960120" y="98755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Connection-Oriented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960120" y="131673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Establishes a connection before data transfer (3-way handshake)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274320" y="187452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2" name="Google Shape;162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20756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/>
          <p:nvPr/>
        </p:nvSpPr>
        <p:spPr>
          <a:xfrm>
            <a:off x="960120" y="194767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Reliable Delivery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960120" y="227685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Every packet is acknowledged; lost packets are retransmitted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274320" y="283464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303580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/>
          <p:nvPr/>
        </p:nvSpPr>
        <p:spPr>
          <a:xfrm>
            <a:off x="960120" y="290779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Ordered Transfer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960120" y="323697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Data arrives in the exact order it was sent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274320" y="379476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0" name="Google Shape;170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39959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/>
          <p:nvPr/>
        </p:nvSpPr>
        <p:spPr>
          <a:xfrm>
            <a:off x="960120" y="386791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Error Checking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960120" y="419709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Checksum verifies data integrity on each segment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400800" y="3794760"/>
            <a:ext cx="2286000" cy="41148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6400800" y="37947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Used on Port: 9000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is UDP?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217920" y="868680"/>
            <a:ext cx="2651760" cy="2651760"/>
          </a:xfrm>
          <a:prstGeom prst="ellipse">
            <a:avLst/>
          </a:prstGeom>
          <a:solidFill>
            <a:srgbClr val="0D1B3E"/>
          </a:solidFill>
          <a:ln w="381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6217920" y="141732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200"/>
              <a:buFont typeface="Arial Black"/>
              <a:buNone/>
            </a:pPr>
            <a:r>
              <a:rPr lang="en-US" sz="4200" b="1" i="0" u="none" strike="noStrike" cap="none">
                <a:solidFill>
                  <a:srgbClr val="F4A261"/>
                </a:solidFill>
                <a:latin typeface="Arial Black"/>
                <a:ea typeface="Arial Black"/>
                <a:cs typeface="Arial Black"/>
                <a:sym typeface="Arial Black"/>
              </a:rPr>
              <a:t>UDP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217920" y="214884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User Datagram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274320" y="91440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1" name="Google Shape;19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11155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"/>
          <p:cNvSpPr/>
          <p:nvPr/>
        </p:nvSpPr>
        <p:spPr>
          <a:xfrm>
            <a:off x="960120" y="98755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Connectionless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960120" y="131673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No handshake — packets sent directly without setup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274320" y="187452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5" name="Google Shape;195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20756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960120" y="194767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Fast &amp; Lightweight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960120" y="227685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Lower overhead; ideal for time-sensitive small messages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274320" y="283464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9" name="Google Shape;199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303580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/>
          <p:nvPr/>
        </p:nvSpPr>
        <p:spPr>
          <a:xfrm>
            <a:off x="960120" y="290779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No Delivery Guarantee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960120" y="323697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Packets may be lost — acceptable for typing indicators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274320" y="379476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3" name="Google Shape;20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39959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/>
          <p:nvPr/>
        </p:nvSpPr>
        <p:spPr>
          <a:xfrm>
            <a:off x="960120" y="386791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Broadcast-Friendly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960120" y="419709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Easily send to multiple clients in one operation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400800" y="3794760"/>
            <a:ext cx="2286000" cy="41148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6400800" y="37947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Used on Port: 9001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-45775" y="4846195"/>
            <a:ext cx="9144000" cy="29730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365750" y="4869300"/>
            <a:ext cx="8732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TCP vs UDP — Comparison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/>
          <p:nvPr/>
        </p:nvSpPr>
        <p:spPr>
          <a:xfrm>
            <a:off x="8275315" y="4857758"/>
            <a:ext cx="73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274320" y="708650"/>
            <a:ext cx="2743200" cy="50280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3063240" y="708650"/>
            <a:ext cx="2834700" cy="5028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5943600" y="708650"/>
            <a:ext cx="2834700" cy="50280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274320" y="708650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3063240" y="708650"/>
            <a:ext cx="2834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5943600" y="708650"/>
            <a:ext cx="2834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74320" y="1239002"/>
            <a:ext cx="8503800" cy="4755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CC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365760" y="1239002"/>
            <a:ext cx="2606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Connection Type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063240" y="1239002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Connection-Oriented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943600" y="1239002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E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E00"/>
                </a:solidFill>
                <a:latin typeface="Calibri"/>
                <a:ea typeface="Calibri"/>
                <a:cs typeface="Calibri"/>
                <a:sym typeface="Calibri"/>
              </a:rPr>
              <a:t>Connectionless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274320" y="1732778"/>
            <a:ext cx="8503800" cy="475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C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365760" y="1732778"/>
            <a:ext cx="2606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3063240" y="1732778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Guaranteed Delivery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943600" y="1732778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E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E00"/>
                </a:solidFill>
                <a:latin typeface="Calibri"/>
                <a:ea typeface="Calibri"/>
                <a:cs typeface="Calibri"/>
                <a:sym typeface="Calibri"/>
              </a:rPr>
              <a:t>No Guarantee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274320" y="2226554"/>
            <a:ext cx="8503800" cy="4755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CC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365760" y="2226554"/>
            <a:ext cx="2606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063240" y="2226554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943600" y="2226554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E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E00"/>
                </a:solidFill>
                <a:latin typeface="Calibri"/>
                <a:ea typeface="Calibri"/>
                <a:cs typeface="Calibri"/>
                <a:sym typeface="Calibri"/>
              </a:rPr>
              <a:t>Fast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74320" y="2720330"/>
            <a:ext cx="8503800" cy="475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C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365760" y="2720330"/>
            <a:ext cx="2606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Order of Data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3063240" y="2720330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Maintained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943600" y="2720330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E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E00"/>
                </a:solidFill>
                <a:latin typeface="Calibri"/>
                <a:ea typeface="Calibri"/>
                <a:cs typeface="Calibri"/>
                <a:sym typeface="Calibri"/>
              </a:rPr>
              <a:t>Not Maintained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74320" y="3214106"/>
            <a:ext cx="8503800" cy="4755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CC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365760" y="3214106"/>
            <a:ext cx="2606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Error Checking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3063240" y="3214106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Yes (with retransmit)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943600" y="3214106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E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E00"/>
                </a:solidFill>
                <a:latin typeface="Calibri"/>
                <a:ea typeface="Calibri"/>
                <a:cs typeface="Calibri"/>
                <a:sym typeface="Calibri"/>
              </a:rPr>
              <a:t>Basic (checksum only)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274320" y="3707882"/>
            <a:ext cx="8503800" cy="475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C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365760" y="3707882"/>
            <a:ext cx="2606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Use in Project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3063240" y="3707882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Chat Messages (Port 9000)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943600" y="3707882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E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E00"/>
                </a:solidFill>
                <a:latin typeface="Calibri"/>
                <a:ea typeface="Calibri"/>
                <a:cs typeface="Calibri"/>
                <a:sym typeface="Calibri"/>
              </a:rPr>
              <a:t>Typing Status (Port 9001)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274320" y="4201658"/>
            <a:ext cx="8503800" cy="4755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CC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365760" y="4201658"/>
            <a:ext cx="2606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Socket Type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063240" y="4201658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SOCK_STREAM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943600" y="4201658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E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E00"/>
                </a:solidFill>
                <a:latin typeface="Calibri"/>
                <a:ea typeface="Calibri"/>
                <a:cs typeface="Calibri"/>
                <a:sym typeface="Calibri"/>
              </a:rPr>
              <a:t>SOCK_DGRAM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Why Use Both TCP + UDP?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274320" y="1188720"/>
            <a:ext cx="2560320" cy="2560320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274320" y="1828800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Reliable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6309360" y="1188720"/>
            <a:ext cx="2560320" cy="256032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6309360" y="1828800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Lightweight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154680" y="1417320"/>
            <a:ext cx="502920" cy="32004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5486400" y="1417320"/>
            <a:ext cx="502920" cy="32004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3154680" y="1417320"/>
            <a:ext cx="2834640" cy="32004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3246120" y="1691640"/>
            <a:ext cx="2651760" cy="1874520"/>
          </a:xfrm>
          <a:prstGeom prst="rect">
            <a:avLst/>
          </a:prstGeom>
          <a:solidFill>
            <a:srgbClr val="0D1B3E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3246120" y="1737360"/>
            <a:ext cx="26517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SMART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CHAT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SYSTEM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274320" y="3794760"/>
            <a:ext cx="164592" cy="27432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548640" y="37947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TCP handles chat messages that must never be lost or reordered.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274320" y="4133088"/>
            <a:ext cx="164592" cy="27432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548640" y="413308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UDP handles typing indicators where speed matters more than reliability.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274320" y="4471416"/>
            <a:ext cx="164592" cy="274320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548640" y="447141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Hybrid design = best user experience with optimal network usage.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9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3429000" y="960120"/>
            <a:ext cx="2286000" cy="1417320"/>
          </a:xfrm>
          <a:prstGeom prst="rect">
            <a:avLst/>
          </a:prstGeom>
          <a:solidFill>
            <a:srgbClr val="0D1B3E"/>
          </a:solidFill>
          <a:ln w="317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4" name="Google Shape;294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60520" y="1069848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/>
          <p:nvPr/>
        </p:nvSpPr>
        <p:spPr>
          <a:xfrm>
            <a:off x="3429000" y="192024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3429000" y="21671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tcp_server.py  |  udp_server.py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228600" y="1097280"/>
            <a:ext cx="1645920" cy="1234440"/>
          </a:xfrm>
          <a:prstGeom prst="rect">
            <a:avLst/>
          </a:prstGeom>
          <a:solidFill>
            <a:srgbClr val="1E5FA8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8" name="Google Shape;298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4088" y="1188720"/>
            <a:ext cx="68580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9"/>
          <p:cNvSpPr/>
          <p:nvPr/>
        </p:nvSpPr>
        <p:spPr>
          <a:xfrm>
            <a:off x="228600" y="17830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228600" y="203911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tcp + udp client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7269480" y="1097280"/>
            <a:ext cx="1645920" cy="1234440"/>
          </a:xfrm>
          <a:prstGeom prst="rect">
            <a:avLst/>
          </a:prstGeom>
          <a:solidFill>
            <a:srgbClr val="1E5FA8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2" name="Google Shape;302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44968" y="1188720"/>
            <a:ext cx="68580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9"/>
          <p:cNvSpPr/>
          <p:nvPr/>
        </p:nvSpPr>
        <p:spPr>
          <a:xfrm>
            <a:off x="7269480" y="17830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7269480" y="203911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tcp + udp client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3429000" y="3520440"/>
            <a:ext cx="2286000" cy="1325880"/>
          </a:xfrm>
          <a:prstGeom prst="rect">
            <a:avLst/>
          </a:prstGeom>
          <a:solidFill>
            <a:srgbClr val="1A3A6B"/>
          </a:solidFill>
          <a:ln w="1905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6" name="Google Shape;306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33672" y="3630168"/>
            <a:ext cx="68580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9"/>
          <p:cNvSpPr/>
          <p:nvPr/>
        </p:nvSpPr>
        <p:spPr>
          <a:xfrm>
            <a:off x="3429000" y="42702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Browser UI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3429000" y="45262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ws_bridge.py  |  index.html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1874520" y="1709928"/>
            <a:ext cx="1554480" cy="0"/>
          </a:xfrm>
          <a:prstGeom prst="straightConnector1">
            <a:avLst/>
          </a:prstGeom>
          <a:noFill/>
          <a:ln w="22850" cap="flat" cmpd="sng">
            <a:solidFill>
              <a:srgbClr val="00B4D8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10" name="Google Shape;310;p9"/>
          <p:cNvCxnSpPr/>
          <p:nvPr/>
        </p:nvCxnSpPr>
        <p:spPr>
          <a:xfrm>
            <a:off x="5715000" y="1709928"/>
            <a:ext cx="1554480" cy="0"/>
          </a:xfrm>
          <a:prstGeom prst="straightConnector1">
            <a:avLst/>
          </a:prstGeom>
          <a:noFill/>
          <a:ln w="22850" cap="flat" cmpd="sng">
            <a:solidFill>
              <a:srgbClr val="00B4D8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11" name="Google Shape;311;p9"/>
          <p:cNvCxnSpPr/>
          <p:nvPr/>
        </p:nvCxnSpPr>
        <p:spPr>
          <a:xfrm>
            <a:off x="4572000" y="2377440"/>
            <a:ext cx="0" cy="1143000"/>
          </a:xfrm>
          <a:prstGeom prst="straightConnector1">
            <a:avLst/>
          </a:prstGeom>
          <a:noFill/>
          <a:ln w="22850" cap="flat" cmpd="sng">
            <a:solidFill>
              <a:srgbClr val="0096B7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12" name="Google Shape;312;p9"/>
          <p:cNvSpPr/>
          <p:nvPr/>
        </p:nvSpPr>
        <p:spPr>
          <a:xfrm>
            <a:off x="1965960" y="1572768"/>
            <a:ext cx="1325880" cy="237744"/>
          </a:xfrm>
          <a:prstGeom prst="rect">
            <a:avLst/>
          </a:prstGeom>
          <a:solidFill>
            <a:srgbClr val="061029"/>
          </a:solidFill>
          <a:ln w="12700" cap="flat" cmpd="sng">
            <a:solidFill>
              <a:srgbClr val="061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1965960" y="1572768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TCP :9000 + UDP :9001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852160" y="1572768"/>
            <a:ext cx="1325880" cy="237744"/>
          </a:xfrm>
          <a:prstGeom prst="rect">
            <a:avLst/>
          </a:prstGeom>
          <a:solidFill>
            <a:srgbClr val="061029"/>
          </a:solidFill>
          <a:ln w="12700" cap="flat" cmpd="sng">
            <a:solidFill>
              <a:srgbClr val="061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5852160" y="1572768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TCP :9000 + UDP :9001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4663440" y="2606040"/>
            <a:ext cx="1234440" cy="237744"/>
          </a:xfrm>
          <a:prstGeom prst="rect">
            <a:avLst/>
          </a:prstGeom>
          <a:solidFill>
            <a:srgbClr val="061029"/>
          </a:solidFill>
          <a:ln w="12700" cap="flat" cmpd="sng">
            <a:solidFill>
              <a:srgbClr val="061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4663440" y="260604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96B7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0096B7"/>
                </a:solidFill>
                <a:latin typeface="Calibri"/>
                <a:ea typeface="Calibri"/>
                <a:cs typeface="Calibri"/>
                <a:sym typeface="Calibri"/>
              </a:rPr>
              <a:t>WebSocket :8765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228600" y="3566160"/>
            <a:ext cx="1645920" cy="640080"/>
          </a:xfrm>
          <a:prstGeom prst="rect">
            <a:avLst/>
          </a:prstGeom>
          <a:solidFill>
            <a:srgbClr val="112252"/>
          </a:solidFill>
          <a:ln w="12700" cap="flat" cmpd="sng">
            <a:solidFill>
              <a:srgbClr val="8FA8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228600" y="35661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Client C+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(unlimited)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9"/>
          <p:cNvCxnSpPr/>
          <p:nvPr/>
        </p:nvCxnSpPr>
        <p:spPr>
          <a:xfrm>
            <a:off x="1051560" y="2331720"/>
            <a:ext cx="0" cy="1234440"/>
          </a:xfrm>
          <a:prstGeom prst="straightConnector1">
            <a:avLst/>
          </a:prstGeom>
          <a:noFill/>
          <a:ln w="12700" cap="flat" cmpd="sng">
            <a:solidFill>
              <a:srgbClr val="8FA8C8"/>
            </a:solidFill>
            <a:prstDash val="dot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TCP Working in Our Project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0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274320" y="1024128"/>
            <a:ext cx="566928" cy="566928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274320" y="102412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10"/>
          <p:cNvCxnSpPr/>
          <p:nvPr/>
        </p:nvCxnSpPr>
        <p:spPr>
          <a:xfrm>
            <a:off x="557784" y="1600200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6" name="Google Shape;336;p10"/>
          <p:cNvSpPr/>
          <p:nvPr/>
        </p:nvSpPr>
        <p:spPr>
          <a:xfrm>
            <a:off x="1005840" y="914400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1143000" y="9784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Client Connects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1143000" y="128016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tcp_client.py connects to tcp_server.py on port 9000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274320" y="1828800"/>
            <a:ext cx="566928" cy="566928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274320" y="18288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10"/>
          <p:cNvCxnSpPr/>
          <p:nvPr/>
        </p:nvCxnSpPr>
        <p:spPr>
          <a:xfrm>
            <a:off x="557784" y="2404872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2" name="Google Shape;342;p10"/>
          <p:cNvSpPr/>
          <p:nvPr/>
        </p:nvSpPr>
        <p:spPr>
          <a:xfrm>
            <a:off x="1005840" y="1719072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1143000" y="1783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Username Handshake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1143000" y="208483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Server sends prompt; client replies with chosen username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" y="2633472"/>
            <a:ext cx="566928" cy="566928"/>
          </a:xfrm>
          <a:prstGeom prst="ellipse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274320" y="263347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10"/>
          <p:cNvCxnSpPr/>
          <p:nvPr/>
        </p:nvCxnSpPr>
        <p:spPr>
          <a:xfrm>
            <a:off x="557784" y="3209544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" name="Google Shape;348;p10"/>
          <p:cNvSpPr/>
          <p:nvPr/>
        </p:nvSpPr>
        <p:spPr>
          <a:xfrm>
            <a:off x="1005840" y="2523744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1143000" y="25877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Join Broadcast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1143000" y="288950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Server broadcasts '[SERVER] Alok joined' to all clients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274320" y="3438144"/>
            <a:ext cx="566928" cy="566928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274320" y="343814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10"/>
          <p:cNvCxnSpPr/>
          <p:nvPr/>
        </p:nvCxnSpPr>
        <p:spPr>
          <a:xfrm>
            <a:off x="557784" y="4014216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4" name="Google Shape;354;p10"/>
          <p:cNvSpPr/>
          <p:nvPr/>
        </p:nvSpPr>
        <p:spPr>
          <a:xfrm>
            <a:off x="1005840" y="3328416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1143000" y="3392424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Message Exchange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1143000" y="3694176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Client sends text; server broadcasts '[Alice]: hello' to all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274320" y="4242816"/>
            <a:ext cx="566928" cy="566928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274320" y="424281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1005840" y="4133088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1143000" y="4197096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Graceful Disconnect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1143000" y="44988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Client sends /quit; server notifies others and closes socket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UDP Working in Our Project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1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274320" y="1024128"/>
            <a:ext cx="566928" cy="566928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274320" y="102412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11"/>
          <p:cNvCxnSpPr/>
          <p:nvPr/>
        </p:nvCxnSpPr>
        <p:spPr>
          <a:xfrm>
            <a:off x="557784" y="1600200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7" name="Google Shape;377;p11"/>
          <p:cNvSpPr/>
          <p:nvPr/>
        </p:nvSpPr>
        <p:spPr>
          <a:xfrm>
            <a:off x="1005840" y="914400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1143000" y="9784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Client Starts Typing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1143000" y="128016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UDPClient.typing() fires — sends 'TYPING:Alice' datagram to port 9001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274320" y="1828800"/>
            <a:ext cx="566928" cy="566928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274320" y="18288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1"/>
          <p:cNvCxnSpPr/>
          <p:nvPr/>
        </p:nvCxnSpPr>
        <p:spPr>
          <a:xfrm>
            <a:off x="557784" y="2404872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3" name="Google Shape;383;p11"/>
          <p:cNvSpPr/>
          <p:nvPr/>
        </p:nvSpPr>
        <p:spPr>
          <a:xfrm>
            <a:off x="1005840" y="1719072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1143000" y="1783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Deduplication Check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1143000" y="208483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Only sent once per typing session to avoid datagram flooding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274320" y="2633472"/>
            <a:ext cx="566928" cy="566928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274320" y="263347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11"/>
          <p:cNvCxnSpPr/>
          <p:nvPr/>
        </p:nvCxnSpPr>
        <p:spPr>
          <a:xfrm>
            <a:off x="557784" y="3209544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9" name="Google Shape;389;p11"/>
          <p:cNvSpPr/>
          <p:nvPr/>
        </p:nvSpPr>
        <p:spPr>
          <a:xfrm>
            <a:off x="1005840" y="2523744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1143000" y="25877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UDP Server Broadcasts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1143000" y="288950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udp_server.py sends '[STATUS] Alice is typing…' to all other clients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274320" y="3438144"/>
            <a:ext cx="566928" cy="566928"/>
          </a:xfrm>
          <a:prstGeom prst="ellipse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274320" y="343814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11"/>
          <p:cNvCxnSpPr/>
          <p:nvPr/>
        </p:nvCxnSpPr>
        <p:spPr>
          <a:xfrm>
            <a:off x="557784" y="4014216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5" name="Google Shape;395;p11"/>
          <p:cNvSpPr/>
          <p:nvPr/>
        </p:nvSpPr>
        <p:spPr>
          <a:xfrm>
            <a:off x="1005840" y="3328416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1143000" y="3392424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Client Sends Message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1143000" y="3694176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UDPClient.stopped_typing() fires — sends 'STOPPED:Alice' datagram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274320" y="4242816"/>
            <a:ext cx="566928" cy="566928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274320" y="424281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1005840" y="4133088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1143000" y="4197096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Status Cleared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1143000" y="44988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Other clients' screens remove the typing indicator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Socket Programming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2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274320" y="914400"/>
            <a:ext cx="8595360" cy="749808"/>
          </a:xfrm>
          <a:prstGeom prst="rect">
            <a:avLst/>
          </a:prstGeom>
          <a:solidFill>
            <a:srgbClr val="0D1B3E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502920" y="960120"/>
            <a:ext cx="8138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socket is an endpoint for sending and receiving data across a network. Python's built-in socket library provides direct access to the OS network layer.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320040" y="1728216"/>
            <a:ext cx="4983480" cy="2231136"/>
          </a:xfrm>
          <a:prstGeom prst="rect">
            <a:avLst/>
          </a:prstGeom>
          <a:solidFill>
            <a:srgbClr val="1E1E2E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320040" y="1762506"/>
            <a:ext cx="4983480" cy="320040"/>
          </a:xfrm>
          <a:prstGeom prst="rect">
            <a:avLst/>
          </a:prstGeom>
          <a:solidFill>
            <a:srgbClr val="2D2D3F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388620" y="177906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Python Socket — Quick Reference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411480" y="2176272"/>
            <a:ext cx="48006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import socket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# TCP Socket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 = socket.socket(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  socket.AF_INET,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  socket.SOCK_STREAM)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# UDP Socket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 = socket.socket(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  socket.AF_INET,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  socket.SOCK_DGRAM)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5486400" y="1828800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5532120" y="182880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AF_INET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6858000" y="18288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Address Family — IPv4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5486400" y="2075688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5532120" y="207568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SOCK_STREAM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6858000" y="207568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TCP stream socket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5486400" y="2322576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5532120" y="232257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SOCK_DGRAM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6858000" y="232257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UDP datagram socket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5486400" y="2569464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5532120" y="2569464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bind()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6858000" y="256946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Attach socket to port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5486400" y="2816352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5532120" y="281635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listen()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6858000" y="281635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Wait for connections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5486400" y="3063240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5532120" y="3063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accept()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6858000" y="30632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Accept a TCP client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5486400" y="3310128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5532120" y="331012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sendto()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6858000" y="331012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Send UDP datagram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5486400" y="3557016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5532120" y="355701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recvfrom()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6858000" y="355701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Receive + get address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3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Project Modules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3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274320" y="91440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3"/>
          <p:cNvSpPr/>
          <p:nvPr/>
        </p:nvSpPr>
        <p:spPr>
          <a:xfrm>
            <a:off x="274320" y="914400"/>
            <a:ext cx="548640" cy="1188720"/>
          </a:xfrm>
          <a:prstGeom prst="rect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9" name="Google Shape;459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261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3"/>
          <p:cNvSpPr/>
          <p:nvPr/>
        </p:nvSpPr>
        <p:spPr>
          <a:xfrm>
            <a:off x="960120" y="100584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common/config.py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960120" y="138988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Shared constants: HOST, TCP_PORT (9000), UDP_PORT (9001), buffer sizes, and protocol tokens (/quit, TYPING, STOPPED).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4709160" y="91440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4709160" y="914400"/>
            <a:ext cx="548640" cy="118872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4" name="Google Shape;464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0600" y="1261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3"/>
          <p:cNvSpPr/>
          <p:nvPr/>
        </p:nvSpPr>
        <p:spPr>
          <a:xfrm>
            <a:off x="5394960" y="100584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server/tcp_server.py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5394960" y="138988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Accepts multiple clients (one thread each), broadcasts messages, manages client registry with threading.Lock.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274320" y="2240280"/>
            <a:ext cx="548640" cy="118872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9" name="Google Shape;469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760" y="25877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3"/>
          <p:cNvSpPr/>
          <p:nvPr/>
        </p:nvSpPr>
        <p:spPr>
          <a:xfrm>
            <a:off x="960120" y="23317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server/udp_server.py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960120" y="271576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Single-loop UDP server; receives TYPING/STOPPED datagrams and fans them out to all other registered client addresses.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4709160" y="2240280"/>
            <a:ext cx="548640" cy="1188720"/>
          </a:xfrm>
          <a:prstGeom prst="rect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4" name="Google Shape;474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00600" y="25877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3"/>
          <p:cNvSpPr/>
          <p:nvPr/>
        </p:nvSpPr>
        <p:spPr>
          <a:xfrm>
            <a:off x="5394960" y="23317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client/tcp_client.py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5394960" y="271576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Connects to TCP server, handles username handshake, uses a background thread to receive messages concurrently.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3"/>
          <p:cNvSpPr/>
          <p:nvPr/>
        </p:nvSpPr>
        <p:spPr>
          <a:xfrm>
            <a:off x="274320" y="3566160"/>
            <a:ext cx="548640" cy="118872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9" name="Google Shape;479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5760" y="39136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3"/>
          <p:cNvSpPr/>
          <p:nvPr/>
        </p:nvSpPr>
        <p:spPr>
          <a:xfrm>
            <a:off x="960120" y="365760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client/udp_client.py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960120" y="404164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UDPClient class: sends typing events (deduplicated) and listens for status updates in a background thread.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3"/>
          <p:cNvSpPr/>
          <p:nvPr/>
        </p:nvSpPr>
        <p:spPr>
          <a:xfrm>
            <a:off x="4709160" y="3566160"/>
            <a:ext cx="548640" cy="1188720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4" name="Google Shape;484;p1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00600" y="39136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3"/>
          <p:cNvSpPr/>
          <p:nvPr/>
        </p:nvSpPr>
        <p:spPr>
          <a:xfrm>
            <a:off x="5394960" y="365760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server/ws_bridge.py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5394960" y="404164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Async WebSocket bridge; translates browser JSON messages ↔ raw TCP/UDP socket calls for the browser frontend.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4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Folder Structure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4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274320" y="914400"/>
            <a:ext cx="5029200" cy="3749040"/>
          </a:xfrm>
          <a:prstGeom prst="rect">
            <a:avLst/>
          </a:prstGeom>
          <a:solidFill>
            <a:srgbClr val="1E1E2E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4"/>
          <p:cNvSpPr/>
          <p:nvPr/>
        </p:nvSpPr>
        <p:spPr>
          <a:xfrm>
            <a:off x="274320" y="914400"/>
            <a:ext cx="5029200" cy="347472"/>
          </a:xfrm>
          <a:prstGeom prst="rect">
            <a:avLst/>
          </a:prstGeom>
          <a:solidFill>
            <a:srgbClr val="2D2D3F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4"/>
          <p:cNvSpPr/>
          <p:nvPr/>
        </p:nvSpPr>
        <p:spPr>
          <a:xfrm>
            <a:off x="365760" y="932688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onsolas"/>
                <a:ea typeface="Consolas"/>
                <a:cs typeface="Consolas"/>
                <a:sym typeface="Consolas"/>
              </a:rPr>
              <a:t>SMART CHAT SYSTEM  /  directory tree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365760" y="1298448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SMART CHAT SYSTEM/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365760" y="1522476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├─ common/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365760" y="1746504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onsolas"/>
                <a:ea typeface="Consolas"/>
                <a:cs typeface="Consolas"/>
                <a:sym typeface="Consolas"/>
              </a:rPr>
              <a:t>  │    ├─ __init__.py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365760" y="1970532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  │    ├─ config.py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365760" y="2194560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├─ server/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365760" y="2418588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│    ├─ tcp_server.py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365760" y="2642616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│    ├─ udp_server.py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365760" y="2866644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│    ├─ ws_bridge.py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365760" y="3090672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├─ client/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365760" y="3314700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│    ├─ tcp_client.py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365760" y="3538728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│    ├─ udp_client.py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365760" y="3762756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├─ frontend/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365760" y="3986784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  │    ├─ index.html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365760" y="4210812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  ├─ run_servers.py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365760" y="4434840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onsolas"/>
                <a:ea typeface="Consolas"/>
                <a:cs typeface="Consolas"/>
                <a:sym typeface="Consolas"/>
              </a:rPr>
              <a:t>  ├─ README.md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5532120" y="1005840"/>
            <a:ext cx="3291840" cy="65836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4"/>
          <p:cNvSpPr/>
          <p:nvPr/>
        </p:nvSpPr>
        <p:spPr>
          <a:xfrm>
            <a:off x="5532120" y="1005840"/>
            <a:ext cx="164592" cy="658368"/>
          </a:xfrm>
          <a:prstGeom prst="rect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4"/>
          <p:cNvSpPr/>
          <p:nvPr/>
        </p:nvSpPr>
        <p:spPr>
          <a:xfrm>
            <a:off x="5806440" y="106070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common/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5806440" y="133502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Shared config — HOST, ports, tokens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5532120" y="1755648"/>
            <a:ext cx="3291840" cy="65836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4"/>
          <p:cNvSpPr/>
          <p:nvPr/>
        </p:nvSpPr>
        <p:spPr>
          <a:xfrm>
            <a:off x="5532120" y="1755648"/>
            <a:ext cx="164592" cy="65836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4"/>
          <p:cNvSpPr/>
          <p:nvPr/>
        </p:nvSpPr>
        <p:spPr>
          <a:xfrm>
            <a:off x="5806440" y="1810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server/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5806440" y="20848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TCP server, UDP server, WS bridge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5532120" y="2505456"/>
            <a:ext cx="3291840" cy="65836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4"/>
          <p:cNvSpPr/>
          <p:nvPr/>
        </p:nvSpPr>
        <p:spPr>
          <a:xfrm>
            <a:off x="5532120" y="2505456"/>
            <a:ext cx="164592" cy="658368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5806440" y="25603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client/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5806440" y="28346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TCP client, UDP client modules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5532120" y="3255264"/>
            <a:ext cx="3291840" cy="65836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4"/>
          <p:cNvSpPr/>
          <p:nvPr/>
        </p:nvSpPr>
        <p:spPr>
          <a:xfrm>
            <a:off x="5532120" y="3255264"/>
            <a:ext cx="164592" cy="658368"/>
          </a:xfrm>
          <a:prstGeom prst="rect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4"/>
          <p:cNvSpPr/>
          <p:nvPr/>
        </p:nvSpPr>
        <p:spPr>
          <a:xfrm>
            <a:off x="5806440" y="33101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frontend/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5806440" y="358444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Browser UI — single HTML file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5532120" y="4005072"/>
            <a:ext cx="3291840" cy="65836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4"/>
          <p:cNvSpPr/>
          <p:nvPr/>
        </p:nvSpPr>
        <p:spPr>
          <a:xfrm>
            <a:off x="5532120" y="4005072"/>
            <a:ext cx="164592" cy="658368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4"/>
          <p:cNvSpPr/>
          <p:nvPr/>
        </p:nvSpPr>
        <p:spPr>
          <a:xfrm>
            <a:off x="5806440" y="405993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run_servers.py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5806440" y="433425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Launches TCP + UDP in one command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Key Code Concepts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7" name="Google Shape;547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5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274320" y="914400"/>
            <a:ext cx="4206240" cy="1188720"/>
          </a:xfrm>
          <a:prstGeom prst="rect">
            <a:avLst/>
          </a:prstGeom>
          <a:solidFill>
            <a:srgbClr val="1E1E2E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0" name="Google Shape;550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1280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5"/>
          <p:cNvSpPr/>
          <p:nvPr/>
        </p:nvSpPr>
        <p:spPr>
          <a:xfrm>
            <a:off x="987552" y="100584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socket.AF_INET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987552" y="1417320"/>
            <a:ext cx="3429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Specifies IPv4 address family. All sockets in this project use IPv4.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4709160" y="914400"/>
            <a:ext cx="4206240" cy="1188720"/>
          </a:xfrm>
          <a:prstGeom prst="rect">
            <a:avLst/>
          </a:prstGeom>
          <a:solidFill>
            <a:srgbClr val="1E1E2E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4" name="Google Shape;554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46320" y="1280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5"/>
          <p:cNvSpPr/>
          <p:nvPr/>
        </p:nvSpPr>
        <p:spPr>
          <a:xfrm>
            <a:off x="5422392" y="100584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SOCK_STREAM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5422392" y="1417320"/>
            <a:ext cx="3429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Creates a TCP socket — stream-based, reliable, ordered byte delivery.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1E1E2E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8" name="Google Shape;558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1480" y="2606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5"/>
          <p:cNvSpPr/>
          <p:nvPr/>
        </p:nvSpPr>
        <p:spPr>
          <a:xfrm>
            <a:off x="987552" y="233172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SOCK_DGRAM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987552" y="2743200"/>
            <a:ext cx="3429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Creates a UDP socket — datagram-based, connectionless, fast.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1E1E2E"/>
          </a:solidFill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2" name="Google Shape;562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6320" y="2606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15"/>
          <p:cNvSpPr/>
          <p:nvPr/>
        </p:nvSpPr>
        <p:spPr>
          <a:xfrm>
            <a:off x="5422392" y="233172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SO_REUSEADDR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5422392" y="2743200"/>
            <a:ext cx="3429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Socket option: lets server restart on same port without 'already in use' error.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1E1E2E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6" name="Google Shape;566;p1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1480" y="3931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15"/>
          <p:cNvSpPr/>
          <p:nvPr/>
        </p:nvSpPr>
        <p:spPr>
          <a:xfrm>
            <a:off x="987552" y="365760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threading.Thread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5"/>
          <p:cNvSpPr/>
          <p:nvPr/>
        </p:nvSpPr>
        <p:spPr>
          <a:xfrm>
            <a:off x="987552" y="4069080"/>
            <a:ext cx="3429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Each TCP client gets its own thread so they don't block each other.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5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1E1E2E"/>
          </a:solidFill>
          <a:ln w="254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0" name="Google Shape;570;p1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46320" y="3931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5"/>
          <p:cNvSpPr/>
          <p:nvPr/>
        </p:nvSpPr>
        <p:spPr>
          <a:xfrm>
            <a:off x="5422392" y="365760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96B7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096B7"/>
                </a:solidFill>
                <a:latin typeface="Consolas"/>
                <a:ea typeface="Consolas"/>
                <a:cs typeface="Consolas"/>
                <a:sym typeface="Consolas"/>
              </a:rPr>
              <a:t>threading.Lock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5"/>
          <p:cNvSpPr/>
          <p:nvPr/>
        </p:nvSpPr>
        <p:spPr>
          <a:xfrm>
            <a:off x="5422392" y="4069080"/>
            <a:ext cx="3429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Prevents race conditions when multiple threads access the clients dict.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6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6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Project Features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3" name="Google Shape;583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16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274320" y="914400"/>
            <a:ext cx="2697480" cy="16916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1280160" y="1078992"/>
            <a:ext cx="685800" cy="685800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7" name="Google Shape;587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4752" y="11704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16"/>
          <p:cNvSpPr/>
          <p:nvPr/>
        </p:nvSpPr>
        <p:spPr>
          <a:xfrm>
            <a:off x="365760" y="18288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Multi-Client Support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365760" y="217627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Unlimited simultaneous users — one thread per TCP client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3246120" y="914400"/>
            <a:ext cx="2697480" cy="16916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6"/>
          <p:cNvSpPr/>
          <p:nvPr/>
        </p:nvSpPr>
        <p:spPr>
          <a:xfrm>
            <a:off x="4251960" y="1078992"/>
            <a:ext cx="685800" cy="68580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2" name="Google Shape;592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552" y="11704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6"/>
          <p:cNvSpPr/>
          <p:nvPr/>
        </p:nvSpPr>
        <p:spPr>
          <a:xfrm>
            <a:off x="3337560" y="18288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Real-Time Messaging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3337560" y="217627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Messages broadcast instantly to all connected peers via TCP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6217920" y="914400"/>
            <a:ext cx="2697480" cy="16916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6"/>
          <p:cNvSpPr/>
          <p:nvPr/>
        </p:nvSpPr>
        <p:spPr>
          <a:xfrm>
            <a:off x="7223760" y="1078992"/>
            <a:ext cx="685800" cy="68580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7" name="Google Shape;597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8352" y="11704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6"/>
          <p:cNvSpPr/>
          <p:nvPr/>
        </p:nvSpPr>
        <p:spPr>
          <a:xfrm>
            <a:off x="6309360" y="18288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Live Typing Indicator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6309360" y="217627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UDP-powered 'Alice is typing…' visible to all other clients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274320" y="2788920"/>
            <a:ext cx="2697480" cy="16916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6"/>
          <p:cNvSpPr/>
          <p:nvPr/>
        </p:nvSpPr>
        <p:spPr>
          <a:xfrm>
            <a:off x="1280160" y="2953512"/>
            <a:ext cx="685800" cy="685800"/>
          </a:xfrm>
          <a:prstGeom prst="ellipse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2" name="Google Shape;602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44752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6"/>
          <p:cNvSpPr/>
          <p:nvPr/>
        </p:nvSpPr>
        <p:spPr>
          <a:xfrm>
            <a:off x="365760" y="370332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Graceful Disconnect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/>
          <p:nvPr/>
        </p:nvSpPr>
        <p:spPr>
          <a:xfrm>
            <a:off x="365760" y="405079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/quit command notifies everyone and closes socket cleanly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3246120" y="2788920"/>
            <a:ext cx="2697480" cy="16916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6"/>
          <p:cNvSpPr/>
          <p:nvPr/>
        </p:nvSpPr>
        <p:spPr>
          <a:xfrm>
            <a:off x="4251960" y="2953512"/>
            <a:ext cx="685800" cy="685800"/>
          </a:xfrm>
          <a:prstGeom prst="ellipse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7" name="Google Shape;607;p1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16552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16"/>
          <p:cNvSpPr/>
          <p:nvPr/>
        </p:nvSpPr>
        <p:spPr>
          <a:xfrm>
            <a:off x="3337560" y="370332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Browser Frontend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3337560" y="405079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Cyberpunk-themed web UI via WebSocket bridge — no install needed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6217920" y="2788920"/>
            <a:ext cx="2697480" cy="16916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6"/>
          <p:cNvSpPr/>
          <p:nvPr/>
        </p:nvSpPr>
        <p:spPr>
          <a:xfrm>
            <a:off x="7223760" y="2953512"/>
            <a:ext cx="685800" cy="68580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2" name="Google Shape;612;p1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88352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16"/>
          <p:cNvSpPr/>
          <p:nvPr/>
        </p:nvSpPr>
        <p:spPr>
          <a:xfrm>
            <a:off x="6309360" y="370332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Zero External Libraries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6309360" y="405079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Only socket, threading, asyncio — all Python built-ins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7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7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Advantages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5" name="Google Shape;625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17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274320" y="914400"/>
            <a:ext cx="8595360" cy="5852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7"/>
          <p:cNvSpPr/>
          <p:nvPr/>
        </p:nvSpPr>
        <p:spPr>
          <a:xfrm>
            <a:off x="320040" y="978408"/>
            <a:ext cx="457200" cy="45720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9" name="Google Shape;629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9768" y="10332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17"/>
          <p:cNvSpPr/>
          <p:nvPr/>
        </p:nvSpPr>
        <p:spPr>
          <a:xfrm>
            <a:off x="960120" y="95097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Speed + Reliability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960120" y="120700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TCP ensures no message is ever lost; UDP keeps status updates instant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2" name="Google Shape;632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1080" y="10789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17"/>
          <p:cNvSpPr/>
          <p:nvPr/>
        </p:nvSpPr>
        <p:spPr>
          <a:xfrm>
            <a:off x="274320" y="1591056"/>
            <a:ext cx="8595360" cy="5852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7"/>
          <p:cNvSpPr/>
          <p:nvPr/>
        </p:nvSpPr>
        <p:spPr>
          <a:xfrm>
            <a:off x="320040" y="1655064"/>
            <a:ext cx="457200" cy="457200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5" name="Google Shape;635;p1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9768" y="17099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7"/>
          <p:cNvSpPr/>
          <p:nvPr/>
        </p:nvSpPr>
        <p:spPr>
          <a:xfrm>
            <a:off x="960120" y="16276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Scalable Architecture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7"/>
          <p:cNvSpPr/>
          <p:nvPr/>
        </p:nvSpPr>
        <p:spPr>
          <a:xfrm>
            <a:off x="960120" y="188366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Thread-per-client model handles many users without blocking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8" name="Google Shape;638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1080" y="17556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7"/>
          <p:cNvSpPr/>
          <p:nvPr/>
        </p:nvSpPr>
        <p:spPr>
          <a:xfrm>
            <a:off x="274320" y="2267712"/>
            <a:ext cx="8595360" cy="5852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7"/>
          <p:cNvSpPr/>
          <p:nvPr/>
        </p:nvSpPr>
        <p:spPr>
          <a:xfrm>
            <a:off x="320040" y="2331720"/>
            <a:ext cx="457200" cy="457200"/>
          </a:xfrm>
          <a:prstGeom prst="ellipse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1" name="Google Shape;641;p1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68" y="23865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17"/>
          <p:cNvSpPr/>
          <p:nvPr/>
        </p:nvSpPr>
        <p:spPr>
          <a:xfrm>
            <a:off x="960120" y="23042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Pure Python Built-ins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7"/>
          <p:cNvSpPr/>
          <p:nvPr/>
        </p:nvSpPr>
        <p:spPr>
          <a:xfrm>
            <a:off x="960120" y="256032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No pip installs — socket, threading, asyncio are all standard library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4" name="Google Shape;644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1080" y="24323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7"/>
          <p:cNvSpPr/>
          <p:nvPr/>
        </p:nvSpPr>
        <p:spPr>
          <a:xfrm>
            <a:off x="274320" y="2944368"/>
            <a:ext cx="8595360" cy="5852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7"/>
          <p:cNvSpPr/>
          <p:nvPr/>
        </p:nvSpPr>
        <p:spPr>
          <a:xfrm>
            <a:off x="320040" y="3008376"/>
            <a:ext cx="457200" cy="45720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7" name="Google Shape;647;p1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9768" y="30632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17"/>
          <p:cNvSpPr/>
          <p:nvPr/>
        </p:nvSpPr>
        <p:spPr>
          <a:xfrm>
            <a:off x="960120" y="29809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Hybrid Protocol Design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960120" y="323697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Best of both worlds: TCP for data, UDP for signalling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0" name="Google Shape;650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1080" y="31089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7"/>
          <p:cNvSpPr/>
          <p:nvPr/>
        </p:nvSpPr>
        <p:spPr>
          <a:xfrm>
            <a:off x="274320" y="3621024"/>
            <a:ext cx="8595360" cy="5852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7"/>
          <p:cNvSpPr/>
          <p:nvPr/>
        </p:nvSpPr>
        <p:spPr>
          <a:xfrm>
            <a:off x="320040" y="3685032"/>
            <a:ext cx="457200" cy="457200"/>
          </a:xfrm>
          <a:prstGeom prst="ellipse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3" name="Google Shape;653;p1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9768" y="373989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17"/>
          <p:cNvSpPr/>
          <p:nvPr/>
        </p:nvSpPr>
        <p:spPr>
          <a:xfrm>
            <a:off x="960120" y="3657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Browser Accessible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7"/>
          <p:cNvSpPr/>
          <p:nvPr/>
        </p:nvSpPr>
        <p:spPr>
          <a:xfrm>
            <a:off x="960120" y="391363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WebSocket bridge lets anyone join from a browser tab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6" name="Google Shape;656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1080" y="37856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7"/>
          <p:cNvSpPr/>
          <p:nvPr/>
        </p:nvSpPr>
        <p:spPr>
          <a:xfrm>
            <a:off x="274320" y="4297680"/>
            <a:ext cx="8595360" cy="5852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7"/>
          <p:cNvSpPr/>
          <p:nvPr/>
        </p:nvSpPr>
        <p:spPr>
          <a:xfrm>
            <a:off x="320040" y="4361688"/>
            <a:ext cx="457200" cy="45720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9" name="Google Shape;659;p1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9768" y="44165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17"/>
          <p:cNvSpPr/>
          <p:nvPr/>
        </p:nvSpPr>
        <p:spPr>
          <a:xfrm>
            <a:off x="960120" y="43342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Educational Value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7"/>
          <p:cNvSpPr/>
          <p:nvPr/>
        </p:nvSpPr>
        <p:spPr>
          <a:xfrm>
            <a:off x="960120" y="459028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Demonstrates real-world use of all key CN concepts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2" name="Google Shape;662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1080" y="4462272"/>
            <a:ext cx="25603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18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18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8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Limitations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3" name="Google Shape;673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18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8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0D1B3E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18"/>
          <p:cNvSpPr/>
          <p:nvPr/>
        </p:nvSpPr>
        <p:spPr>
          <a:xfrm>
            <a:off x="347472" y="1060704"/>
            <a:ext cx="457200" cy="45720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7" name="Google Shape;677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1155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18"/>
          <p:cNvSpPr/>
          <p:nvPr/>
        </p:nvSpPr>
        <p:spPr>
          <a:xfrm>
            <a:off x="960120" y="10332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Encryption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8"/>
          <p:cNvSpPr/>
          <p:nvPr/>
        </p:nvSpPr>
        <p:spPr>
          <a:xfrm>
            <a:off x="960120" y="130759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Messages travel in plain text — no TLS/SSL implemented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8"/>
          <p:cNvSpPr/>
          <p:nvPr/>
        </p:nvSpPr>
        <p:spPr>
          <a:xfrm>
            <a:off x="274320" y="1728216"/>
            <a:ext cx="8595360" cy="658368"/>
          </a:xfrm>
          <a:prstGeom prst="rect">
            <a:avLst/>
          </a:prstGeom>
          <a:solidFill>
            <a:srgbClr val="0D1B3E"/>
          </a:solidFill>
          <a:ln w="1905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8"/>
          <p:cNvSpPr/>
          <p:nvPr/>
        </p:nvSpPr>
        <p:spPr>
          <a:xfrm>
            <a:off x="347472" y="1828800"/>
            <a:ext cx="457200" cy="45720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2" name="Google Shape;682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18836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18"/>
          <p:cNvSpPr/>
          <p:nvPr/>
        </p:nvSpPr>
        <p:spPr>
          <a:xfrm>
            <a:off x="960120" y="18013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Message History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8"/>
          <p:cNvSpPr/>
          <p:nvPr/>
        </p:nvSpPr>
        <p:spPr>
          <a:xfrm>
            <a:off x="960120" y="207568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All chat is lost when the server restarts — no database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8"/>
          <p:cNvSpPr/>
          <p:nvPr/>
        </p:nvSpPr>
        <p:spPr>
          <a:xfrm>
            <a:off x="274320" y="2496312"/>
            <a:ext cx="8595360" cy="658368"/>
          </a:xfrm>
          <a:prstGeom prst="rect">
            <a:avLst/>
          </a:prstGeom>
          <a:solidFill>
            <a:srgbClr val="0D1B3E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18"/>
          <p:cNvSpPr/>
          <p:nvPr/>
        </p:nvSpPr>
        <p:spPr>
          <a:xfrm>
            <a:off x="347472" y="2596896"/>
            <a:ext cx="457200" cy="45720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7" name="Google Shape;687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26517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8"/>
          <p:cNvSpPr/>
          <p:nvPr/>
        </p:nvSpPr>
        <p:spPr>
          <a:xfrm>
            <a:off x="960120" y="256946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Authentication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8"/>
          <p:cNvSpPr/>
          <p:nvPr/>
        </p:nvSpPr>
        <p:spPr>
          <a:xfrm>
            <a:off x="960120" y="284378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Any user can pick any username without verification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274320" y="3264408"/>
            <a:ext cx="8595360" cy="658368"/>
          </a:xfrm>
          <a:prstGeom prst="rect">
            <a:avLst/>
          </a:prstGeom>
          <a:solidFill>
            <a:srgbClr val="0D1B3E"/>
          </a:solidFill>
          <a:ln w="1905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8"/>
          <p:cNvSpPr/>
          <p:nvPr/>
        </p:nvSpPr>
        <p:spPr>
          <a:xfrm>
            <a:off x="347472" y="3364992"/>
            <a:ext cx="457200" cy="457200"/>
          </a:xfrm>
          <a:prstGeom prst="ellipse">
            <a:avLst/>
          </a:prstGeom>
          <a:solidFill>
            <a:srgbClr val="1A3A6B"/>
          </a:solidFill>
          <a:ln w="1270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2" name="Google Shape;692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" y="34198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18"/>
          <p:cNvSpPr/>
          <p:nvPr/>
        </p:nvSpPr>
        <p:spPr>
          <a:xfrm>
            <a:off x="960120" y="33375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Localhost Only (Basic)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8"/>
          <p:cNvSpPr/>
          <p:nvPr/>
        </p:nvSpPr>
        <p:spPr>
          <a:xfrm>
            <a:off x="960120" y="361188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Designed for LAN/localhost — no NAT traversal or internet routing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/>
          <p:nvPr/>
        </p:nvSpPr>
        <p:spPr>
          <a:xfrm>
            <a:off x="274320" y="4032504"/>
            <a:ext cx="8595360" cy="658368"/>
          </a:xfrm>
          <a:prstGeom prst="rect">
            <a:avLst/>
          </a:prstGeom>
          <a:solidFill>
            <a:srgbClr val="0D1B3E"/>
          </a:solidFill>
          <a:ln w="1905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8"/>
          <p:cNvSpPr/>
          <p:nvPr/>
        </p:nvSpPr>
        <p:spPr>
          <a:xfrm>
            <a:off x="347472" y="4133088"/>
            <a:ext cx="457200" cy="457200"/>
          </a:xfrm>
          <a:prstGeom prst="ellipse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7" name="Google Shape;697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7200" y="41879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18"/>
          <p:cNvSpPr/>
          <p:nvPr/>
        </p:nvSpPr>
        <p:spPr>
          <a:xfrm>
            <a:off x="960120" y="41056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Room Only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8"/>
          <p:cNvSpPr/>
          <p:nvPr/>
        </p:nvSpPr>
        <p:spPr>
          <a:xfrm>
            <a:off x="960120" y="437997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No support for multiple named channels or private messages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9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19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9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Future Enhancements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" name="Google Shape;710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19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9"/>
          <p:cNvSpPr/>
          <p:nvPr/>
        </p:nvSpPr>
        <p:spPr>
          <a:xfrm>
            <a:off x="274320" y="91440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19"/>
          <p:cNvSpPr/>
          <p:nvPr/>
        </p:nvSpPr>
        <p:spPr>
          <a:xfrm>
            <a:off x="411480" y="1261872"/>
            <a:ext cx="502920" cy="502920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4" name="Google Shape;714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496" y="13441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19"/>
          <p:cNvSpPr/>
          <p:nvPr/>
        </p:nvSpPr>
        <p:spPr>
          <a:xfrm>
            <a:off x="1051560" y="100584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TLS/SSL Encryption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9"/>
          <p:cNvSpPr/>
          <p:nvPr/>
        </p:nvSpPr>
        <p:spPr>
          <a:xfrm>
            <a:off x="1051560" y="141732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Secure all TCP and WebSocket connections with TLS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9"/>
          <p:cNvSpPr/>
          <p:nvPr/>
        </p:nvSpPr>
        <p:spPr>
          <a:xfrm>
            <a:off x="4709160" y="91440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19"/>
          <p:cNvSpPr/>
          <p:nvPr/>
        </p:nvSpPr>
        <p:spPr>
          <a:xfrm>
            <a:off x="4846320" y="1261872"/>
            <a:ext cx="502920" cy="50292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9" name="Google Shape;719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74336" y="13441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19"/>
          <p:cNvSpPr/>
          <p:nvPr/>
        </p:nvSpPr>
        <p:spPr>
          <a:xfrm>
            <a:off x="5486400" y="100584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Message Persistence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9"/>
          <p:cNvSpPr/>
          <p:nvPr/>
        </p:nvSpPr>
        <p:spPr>
          <a:xfrm>
            <a:off x="5486400" y="141732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Store chat history in SQLite or Redis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9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19"/>
          <p:cNvSpPr/>
          <p:nvPr/>
        </p:nvSpPr>
        <p:spPr>
          <a:xfrm>
            <a:off x="411480" y="2587752"/>
            <a:ext cx="502920" cy="502920"/>
          </a:xfrm>
          <a:prstGeom prst="ellipse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4" name="Google Shape;724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9496" y="2670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19"/>
          <p:cNvSpPr/>
          <p:nvPr/>
        </p:nvSpPr>
        <p:spPr>
          <a:xfrm>
            <a:off x="1051560" y="233172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User Authentication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9"/>
          <p:cNvSpPr/>
          <p:nvPr/>
        </p:nvSpPr>
        <p:spPr>
          <a:xfrm>
            <a:off x="1051560" y="274320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Username + password login with bcrypt hashing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9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19"/>
          <p:cNvSpPr/>
          <p:nvPr/>
        </p:nvSpPr>
        <p:spPr>
          <a:xfrm>
            <a:off x="4846320" y="2587752"/>
            <a:ext cx="502920" cy="50292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9" name="Google Shape;729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74336" y="2670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19"/>
          <p:cNvSpPr/>
          <p:nvPr/>
        </p:nvSpPr>
        <p:spPr>
          <a:xfrm>
            <a:off x="5486400" y="233172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AI Chatbot Integration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9"/>
          <p:cNvSpPr/>
          <p:nvPr/>
        </p:nvSpPr>
        <p:spPr>
          <a:xfrm>
            <a:off x="5486400" y="274320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Built-in bot using Claude API or Gemini for smart replies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9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19"/>
          <p:cNvSpPr/>
          <p:nvPr/>
        </p:nvSpPr>
        <p:spPr>
          <a:xfrm>
            <a:off x="411480" y="3913632"/>
            <a:ext cx="502920" cy="502920"/>
          </a:xfrm>
          <a:prstGeom prst="ellipse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4" name="Google Shape;734;p1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9496" y="39959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19"/>
          <p:cNvSpPr/>
          <p:nvPr/>
        </p:nvSpPr>
        <p:spPr>
          <a:xfrm>
            <a:off x="1051560" y="365760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Multiple Chat Rooms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9"/>
          <p:cNvSpPr/>
          <p:nvPr/>
        </p:nvSpPr>
        <p:spPr>
          <a:xfrm>
            <a:off x="1051560" y="406908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Create and join named channels; private messaging support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9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19"/>
          <p:cNvSpPr/>
          <p:nvPr/>
        </p:nvSpPr>
        <p:spPr>
          <a:xfrm>
            <a:off x="4846320" y="3913632"/>
            <a:ext cx="502920" cy="50292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9" name="Google Shape;739;p1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74336" y="39959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19"/>
          <p:cNvSpPr/>
          <p:nvPr/>
        </p:nvSpPr>
        <p:spPr>
          <a:xfrm>
            <a:off x="5486400" y="365760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Mobile App / PWA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9"/>
          <p:cNvSpPr/>
          <p:nvPr/>
        </p:nvSpPr>
        <p:spPr>
          <a:xfrm>
            <a:off x="5486400" y="406908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Progressive Web App for iOS and Android browser support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9"/>
        </a:solidFill>
        <a:effectLst/>
      </p:bgPr>
    </p:bg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20"/>
          <p:cNvSpPr/>
          <p:nvPr/>
        </p:nvSpPr>
        <p:spPr>
          <a:xfrm>
            <a:off x="0" y="54864"/>
            <a:ext cx="9144000" cy="54864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20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1E5FA8">
              <a:alpha val="14901"/>
            </a:srgbClr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20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4A261">
              <a:alpha val="10196"/>
            </a:srgbClr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2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0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SMART CHAT SYSTEM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0"/>
          <p:cNvSpPr/>
          <p:nvPr/>
        </p:nvSpPr>
        <p:spPr>
          <a:xfrm>
            <a:off x="457200" y="1737360"/>
            <a:ext cx="4114800" cy="4114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20"/>
          <p:cNvSpPr/>
          <p:nvPr/>
        </p:nvSpPr>
        <p:spPr>
          <a:xfrm>
            <a:off x="457200" y="1920240"/>
            <a:ext cx="822960" cy="36576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0"/>
          <p:cNvSpPr/>
          <p:nvPr/>
        </p:nvSpPr>
        <p:spPr>
          <a:xfrm>
            <a:off x="457200" y="192024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0"/>
          <p:cNvSpPr/>
          <p:nvPr/>
        </p:nvSpPr>
        <p:spPr>
          <a:xfrm>
            <a:off x="1417320" y="19659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Reliable message delivery on port 9000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0"/>
          <p:cNvSpPr/>
          <p:nvPr/>
        </p:nvSpPr>
        <p:spPr>
          <a:xfrm>
            <a:off x="457200" y="2414016"/>
            <a:ext cx="822960" cy="36576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20"/>
          <p:cNvSpPr/>
          <p:nvPr/>
        </p:nvSpPr>
        <p:spPr>
          <a:xfrm>
            <a:off x="457200" y="2414016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0"/>
          <p:cNvSpPr/>
          <p:nvPr/>
        </p:nvSpPr>
        <p:spPr>
          <a:xfrm>
            <a:off x="1417320" y="2459736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 typing indicators on port 9001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0"/>
          <p:cNvSpPr/>
          <p:nvPr/>
        </p:nvSpPr>
        <p:spPr>
          <a:xfrm>
            <a:off x="457200" y="2907792"/>
            <a:ext cx="822960" cy="365760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20"/>
          <p:cNvSpPr/>
          <p:nvPr/>
        </p:nvSpPr>
        <p:spPr>
          <a:xfrm>
            <a:off x="457200" y="2907792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Threading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0"/>
          <p:cNvSpPr/>
          <p:nvPr/>
        </p:nvSpPr>
        <p:spPr>
          <a:xfrm>
            <a:off x="1417320" y="295351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Concurrent multi-client handling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0"/>
          <p:cNvSpPr/>
          <p:nvPr/>
        </p:nvSpPr>
        <p:spPr>
          <a:xfrm>
            <a:off x="457200" y="3401568"/>
            <a:ext cx="822960" cy="365760"/>
          </a:xfrm>
          <a:prstGeom prst="rect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20"/>
          <p:cNvSpPr/>
          <p:nvPr/>
        </p:nvSpPr>
        <p:spPr>
          <a:xfrm>
            <a:off x="457200" y="340156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WebSocket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0"/>
          <p:cNvSpPr/>
          <p:nvPr/>
        </p:nvSpPr>
        <p:spPr>
          <a:xfrm>
            <a:off x="1417320" y="344728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Browser frontend via ws_bridge.py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0"/>
          <p:cNvSpPr/>
          <p:nvPr/>
        </p:nvSpPr>
        <p:spPr>
          <a:xfrm>
            <a:off x="457200" y="3895344"/>
            <a:ext cx="822960" cy="365760"/>
          </a:xfrm>
          <a:prstGeom prst="rect">
            <a:avLst/>
          </a:prstGeom>
          <a:solidFill>
            <a:srgbClr val="8FA8C8"/>
          </a:solidFill>
          <a:ln w="12700" cap="flat" cmpd="sng">
            <a:solidFill>
              <a:srgbClr val="8FA8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20"/>
          <p:cNvSpPr/>
          <p:nvPr/>
        </p:nvSpPr>
        <p:spPr>
          <a:xfrm>
            <a:off x="457200" y="389534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0"/>
          <p:cNvSpPr/>
          <p:nvPr/>
        </p:nvSpPr>
        <p:spPr>
          <a:xfrm>
            <a:off x="1417320" y="3941064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 built-in library, no pip needed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0"/>
          <p:cNvSpPr/>
          <p:nvPr/>
        </p:nvSpPr>
        <p:spPr>
          <a:xfrm>
            <a:off x="5303520" y="1691640"/>
            <a:ext cx="3566160" cy="2697480"/>
          </a:xfrm>
          <a:prstGeom prst="rect">
            <a:avLst/>
          </a:prstGeom>
          <a:solidFill>
            <a:srgbClr val="152A5C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20"/>
          <p:cNvSpPr/>
          <p:nvPr/>
        </p:nvSpPr>
        <p:spPr>
          <a:xfrm>
            <a:off x="5440680" y="178308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Learning Outcomes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0"/>
          <p:cNvSpPr/>
          <p:nvPr/>
        </p:nvSpPr>
        <p:spPr>
          <a:xfrm>
            <a:off x="5440680" y="2212848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TCP/UDP protocol differences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0"/>
          <p:cNvSpPr/>
          <p:nvPr/>
        </p:nvSpPr>
        <p:spPr>
          <a:xfrm>
            <a:off x="5440680" y="2560320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Client-server architecture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0"/>
          <p:cNvSpPr/>
          <p:nvPr/>
        </p:nvSpPr>
        <p:spPr>
          <a:xfrm>
            <a:off x="5440680" y="2907792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Multi-threaded programming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0"/>
          <p:cNvSpPr/>
          <p:nvPr/>
        </p:nvSpPr>
        <p:spPr>
          <a:xfrm>
            <a:off x="5440680" y="3255264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Socket API in Python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0"/>
          <p:cNvSpPr/>
          <p:nvPr/>
        </p:nvSpPr>
        <p:spPr>
          <a:xfrm>
            <a:off x="5440680" y="3602736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WebSocket bridging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0"/>
          <p:cNvSpPr/>
          <p:nvPr/>
        </p:nvSpPr>
        <p:spPr>
          <a:xfrm>
            <a:off x="5440680" y="3950208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Frontend-backend integration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20"/>
          <p:cNvSpPr/>
          <p:nvPr/>
        </p:nvSpPr>
        <p:spPr>
          <a:xfrm>
            <a:off x="274320" y="4681728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Presented by Alok  ·  B.Tech CSE  ·  Computer Networks  ·  Smart Chat System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0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9"/>
        </a:solidFill>
        <a:effectLst/>
      </p:bgPr>
    </p:bg>
    <p:spTree>
      <p:nvGrpSpPr>
        <p:cNvPr id="1" name="Shape 746">
          <a:extLst>
            <a:ext uri="{FF2B5EF4-FFF2-40B4-BE49-F238E27FC236}">
              <a16:creationId xmlns:a16="http://schemas.microsoft.com/office/drawing/2014/main" id="{170D3E48-BD87-9CE9-25E4-528E0441F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0">
            <a:extLst>
              <a:ext uri="{FF2B5EF4-FFF2-40B4-BE49-F238E27FC236}">
                <a16:creationId xmlns:a16="http://schemas.microsoft.com/office/drawing/2014/main" id="{DF8F371B-781F-A632-9B37-1B859D3BBD9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20">
            <a:extLst>
              <a:ext uri="{FF2B5EF4-FFF2-40B4-BE49-F238E27FC236}">
                <a16:creationId xmlns:a16="http://schemas.microsoft.com/office/drawing/2014/main" id="{E77A1F6F-D663-57AE-5DBF-5493A307FA3B}"/>
              </a:ext>
            </a:extLst>
          </p:cNvPr>
          <p:cNvSpPr/>
          <p:nvPr/>
        </p:nvSpPr>
        <p:spPr>
          <a:xfrm>
            <a:off x="0" y="54864"/>
            <a:ext cx="9144000" cy="54864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0">
            <a:extLst>
              <a:ext uri="{FF2B5EF4-FFF2-40B4-BE49-F238E27FC236}">
                <a16:creationId xmlns:a16="http://schemas.microsoft.com/office/drawing/2014/main" id="{AD288D20-AB30-F338-8E3A-6264732EE7CC}"/>
              </a:ext>
            </a:extLst>
          </p:cNvPr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20">
            <a:extLst>
              <a:ext uri="{FF2B5EF4-FFF2-40B4-BE49-F238E27FC236}">
                <a16:creationId xmlns:a16="http://schemas.microsoft.com/office/drawing/2014/main" id="{4928EEFF-252B-FD37-F0E5-F6273886A25D}"/>
              </a:ext>
            </a:extLst>
          </p:cNvPr>
          <p:cNvSpPr/>
          <p:nvPr/>
        </p:nvSpPr>
        <p:spPr>
          <a:xfrm>
            <a:off x="274320" y="4681728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Presented by Alok  ·  B.Tech CSE  ·  Computer Networks  ·  Smart Chat System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0">
            <a:extLst>
              <a:ext uri="{FF2B5EF4-FFF2-40B4-BE49-F238E27FC236}">
                <a16:creationId xmlns:a16="http://schemas.microsoft.com/office/drawing/2014/main" id="{197A27F2-2AB8-6147-A0BB-DE5CA704C4FD}"/>
              </a:ext>
            </a:extLst>
          </p:cNvPr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43BB83-53F2-98F8-9873-69B7BD9C1672}"/>
              </a:ext>
            </a:extLst>
          </p:cNvPr>
          <p:cNvSpPr/>
          <p:nvPr/>
        </p:nvSpPr>
        <p:spPr>
          <a:xfrm>
            <a:off x="2128822" y="2017752"/>
            <a:ext cx="4886355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lackadder ITC" panose="04020505051007020D02" pitchFamily="82" charset="0"/>
              </a:rPr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3375511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2464</Words>
  <Application>Microsoft Office PowerPoint</Application>
  <PresentationFormat>On-screen Show (16:9)</PresentationFormat>
  <Paragraphs>388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 Black</vt:lpstr>
      <vt:lpstr>Consolas</vt:lpstr>
      <vt:lpstr>Arial</vt:lpstr>
      <vt:lpstr>Calibri</vt:lpstr>
      <vt:lpstr>Blackadder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Alok</dc:creator>
  <cp:lastModifiedBy>Alokkumar Sahu</cp:lastModifiedBy>
  <cp:revision>4</cp:revision>
  <dcterms:created xsi:type="dcterms:W3CDTF">2026-03-19T05:58:39Z</dcterms:created>
  <dcterms:modified xsi:type="dcterms:W3CDTF">2026-03-24T05:13:57Z</dcterms:modified>
</cp:coreProperties>
</file>